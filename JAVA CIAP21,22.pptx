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Marcellus"/>
      <p:regular r:id="rId18"/>
    </p:embeddedFont>
    <p:embeddedFont>
      <p:font typeface="Bodoni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kgL/4rqFjRTBT5YbBrLKtTLWf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odoni-bold.fntdata"/><Relationship Id="rId11" Type="http://schemas.openxmlformats.org/officeDocument/2006/relationships/slide" Target="slides/slide6.xml"/><Relationship Id="rId22" Type="http://schemas.openxmlformats.org/officeDocument/2006/relationships/font" Target="fonts/Bodoni-boldItalic.fntdata"/><Relationship Id="rId10" Type="http://schemas.openxmlformats.org/officeDocument/2006/relationships/slide" Target="slides/slide5.xml"/><Relationship Id="rId21" Type="http://schemas.openxmlformats.org/officeDocument/2006/relationships/font" Target="fonts/Bodoni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Bodoni-regular.fntdata"/><Relationship Id="rId6" Type="http://schemas.openxmlformats.org/officeDocument/2006/relationships/slide" Target="slides/slide1.xml"/><Relationship Id="rId18" Type="http://schemas.openxmlformats.org/officeDocument/2006/relationships/font" Target="fonts/Marcellu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4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jp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jp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000"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778510" y="213995"/>
            <a:ext cx="72821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 </a:t>
            </a:r>
            <a:r>
              <a:rPr lang="en-US" sz="1800">
                <a:latin typeface="Bodoni"/>
                <a:ea typeface="Bodoni"/>
                <a:cs typeface="Bodoni"/>
                <a:sym typeface="Bodoni"/>
              </a:rPr>
              <a:t> Mahavir Education Trust’s</a:t>
            </a:r>
            <a:br>
              <a:rPr lang="en-US" sz="1800">
                <a:latin typeface="Bodoni"/>
                <a:ea typeface="Bodoni"/>
                <a:cs typeface="Bodoni"/>
                <a:sym typeface="Bodoni"/>
              </a:rPr>
            </a:br>
            <a:r>
              <a:rPr lang="en-US" sz="3100">
                <a:latin typeface="Bodoni"/>
                <a:ea typeface="Bodoni"/>
                <a:cs typeface="Bodoni"/>
                <a:sym typeface="Bodoni"/>
              </a:rPr>
              <a:t>Shah &amp; Anchor Kutchhi Engineering College</a:t>
            </a:r>
            <a:br>
              <a:rPr lang="en-US" sz="3100">
                <a:latin typeface="Bodoni"/>
                <a:ea typeface="Bodoni"/>
                <a:cs typeface="Bodoni"/>
                <a:sym typeface="Bodoni"/>
              </a:rPr>
            </a:br>
            <a:r>
              <a:rPr lang="en-US" sz="1800">
                <a:latin typeface="Bodoni"/>
                <a:ea typeface="Bodoni"/>
                <a:cs typeface="Bodoni"/>
                <a:sym typeface="Bodoni"/>
              </a:rPr>
              <a:t>Chembur, Mumbai-400088</a:t>
            </a:r>
            <a:br>
              <a:rPr lang="en-US" sz="1800">
                <a:latin typeface="Bodoni"/>
                <a:ea typeface="Bodoni"/>
                <a:cs typeface="Bodoni"/>
                <a:sym typeface="Bodoni"/>
              </a:rPr>
            </a:br>
            <a:r>
              <a:rPr lang="en-US" sz="2000">
                <a:latin typeface="Bodoni"/>
                <a:ea typeface="Bodoni"/>
                <a:cs typeface="Bodoni"/>
                <a:sym typeface="Bodoni"/>
              </a:rPr>
              <a:t>(Autonomous College Affiliated to the University of Mumbai)</a:t>
            </a:r>
            <a:br>
              <a:rPr lang="en-US" sz="2000">
                <a:latin typeface="Bodoni"/>
                <a:ea typeface="Bodoni"/>
                <a:cs typeface="Bodoni"/>
                <a:sym typeface="Bodoni"/>
              </a:rPr>
            </a:br>
            <a:r>
              <a:rPr lang="en-US" sz="2000">
                <a:latin typeface="Bodoni"/>
                <a:ea typeface="Bodoni"/>
                <a:cs typeface="Bodoni"/>
                <a:sym typeface="Bodoni"/>
              </a:rPr>
              <a:t>Bestowed with the University of Mumbai’s Best College Honor 2024-25</a:t>
            </a:r>
            <a:br>
              <a:rPr lang="en-US" sz="2000">
                <a:latin typeface="Bodoni"/>
                <a:ea typeface="Bodoni"/>
                <a:cs typeface="Bodoni"/>
                <a:sym typeface="Bodoni"/>
              </a:rPr>
            </a:br>
            <a:r>
              <a:rPr lang="en-US" sz="2000">
                <a:latin typeface="Bodoni"/>
                <a:ea typeface="Bodoni"/>
                <a:cs typeface="Bodoni"/>
                <a:sym typeface="Bodoni"/>
              </a:rPr>
              <a:t>www.sakec.ac.in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607060" y="1466850"/>
            <a:ext cx="8229600" cy="3923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Mahesh Patil\Desktop\PICS\photo\College.jp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670" y="2232660"/>
            <a:ext cx="7312025" cy="31578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8580755" y="0"/>
            <a:ext cx="563245" cy="684657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11430"/>
            <a:ext cx="563245" cy="684657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160" y="5746750"/>
            <a:ext cx="752475" cy="772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952500" y="571500"/>
            <a:ext cx="7239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Atmos Weather Application</a:t>
            </a:r>
            <a:endParaRPr b="1" sz="38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 Robust Java Desktop Solution for Real-Time Meteorological Analytics &amp; Visualization</a:t>
            </a:r>
            <a:endParaRPr b="0" sz="16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2095500" y="2476500"/>
            <a:ext cx="4953000" cy="2286000"/>
          </a:xfrm>
          <a:prstGeom prst="roundRect">
            <a:avLst>
              <a:gd fmla="val 4166" name="adj"/>
            </a:avLst>
          </a:prstGeom>
          <a:solidFill>
            <a:srgbClr val="F2F5FA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2381250" y="2667000"/>
            <a:ext cx="4381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Project Members</a:t>
            </a:r>
            <a:endParaRPr b="1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Khan Mohammed Suraqa Tabrez</a:t>
            </a:r>
            <a:br>
              <a:rPr b="1" lang="en-US" sz="13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SYECS1-21</a:t>
            </a:r>
            <a:endParaRPr b="1" sz="13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Khan Owais Muqtada</a:t>
            </a:r>
            <a:br>
              <a:rPr b="1" lang="en-US" sz="13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SYECS1-22</a:t>
            </a:r>
            <a:endParaRPr b="1" sz="13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5453" l="0" r="0" t="5453"/>
          <a:stretch/>
        </p:blipFill>
        <p:spPr>
          <a:xfrm>
            <a:off x="772160" y="5746747"/>
            <a:ext cx="752400" cy="7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762000" y="381000"/>
            <a:ext cx="7620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1" sz="38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60" y="5746750"/>
            <a:ext cx="752475" cy="77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66850"/>
            <a:ext cx="7620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3"/>
          <p:cNvGrpSpPr/>
          <p:nvPr/>
        </p:nvGrpSpPr>
        <p:grpSpPr>
          <a:xfrm>
            <a:off x="762000" y="1714500"/>
            <a:ext cx="3619500" cy="3657600"/>
            <a:chOff x="762000" y="1714500"/>
            <a:chExt cx="3619500" cy="3657600"/>
          </a:xfrm>
        </p:grpSpPr>
        <p:sp>
          <p:nvSpPr>
            <p:cNvPr id="108" name="Google Shape;108;p3"/>
            <p:cNvSpPr/>
            <p:nvPr/>
          </p:nvSpPr>
          <p:spPr>
            <a:xfrm>
              <a:off x="762000" y="1714500"/>
              <a:ext cx="36195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895350" y="1847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895350" y="1847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1381125" y="1714500"/>
              <a:ext cx="2905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62000" y="2476500"/>
              <a:ext cx="36195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95350" y="2609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895350" y="2609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1381125" y="2476500"/>
              <a:ext cx="2905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Scope of Project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762000" y="3238500"/>
              <a:ext cx="36195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95350" y="3371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895350" y="3371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1381125" y="3238500"/>
              <a:ext cx="2905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Project Overview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762000" y="4000500"/>
              <a:ext cx="36195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95350" y="4133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895350" y="4133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1381125" y="4000500"/>
              <a:ext cx="2905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Results &amp; Screenshots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762000" y="4762500"/>
              <a:ext cx="36195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895350" y="4895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895350" y="4895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1381125" y="4762500"/>
              <a:ext cx="2905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Code Snippets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4667250" y="1714500"/>
            <a:ext cx="3714900" cy="2895600"/>
            <a:chOff x="4667250" y="1714500"/>
            <a:chExt cx="3714900" cy="2895600"/>
          </a:xfrm>
        </p:grpSpPr>
        <p:sp>
          <p:nvSpPr>
            <p:cNvPr id="129" name="Google Shape;129;p3"/>
            <p:cNvSpPr/>
            <p:nvPr/>
          </p:nvSpPr>
          <p:spPr>
            <a:xfrm>
              <a:off x="4667250" y="1714500"/>
              <a:ext cx="37149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800600" y="1847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4800600" y="1847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5286375" y="1714500"/>
              <a:ext cx="30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Challenges Faced &amp; Solutions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667250" y="2476500"/>
              <a:ext cx="37149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800600" y="2609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4800600" y="2609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5286375" y="2476500"/>
              <a:ext cx="30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Learning Outcomes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667250" y="3238500"/>
              <a:ext cx="37149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800600" y="3371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4800600" y="3371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08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5286375" y="3238500"/>
              <a:ext cx="30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Conclusion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667250" y="4000500"/>
              <a:ext cx="3714900" cy="609600"/>
            </a:xfrm>
            <a:prstGeom prst="roundRect">
              <a:avLst>
                <a:gd fmla="val 9375" name="adj"/>
              </a:avLst>
            </a:prstGeom>
            <a:solidFill>
              <a:srgbClr val="F2F5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800600" y="4133850"/>
              <a:ext cx="342900" cy="34290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4800600" y="41338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09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5286375" y="4000500"/>
              <a:ext cx="30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References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3. Scope of Project</a:t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Essential Scope</a:t>
            </a:r>
            <a:endParaRPr b="1" sz="38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60" y="5746750"/>
            <a:ext cx="752475" cy="7727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952500" y="1714500"/>
            <a:ext cx="7715400" cy="3619500"/>
            <a:chOff x="952500" y="1714500"/>
            <a:chExt cx="7715400" cy="3619500"/>
          </a:xfrm>
        </p:grpSpPr>
        <p:sp>
          <p:nvSpPr>
            <p:cNvPr id="153" name="Google Shape;153;p4"/>
            <p:cNvSpPr/>
            <p:nvPr/>
          </p:nvSpPr>
          <p:spPr>
            <a:xfrm>
              <a:off x="952500" y="1714500"/>
              <a:ext cx="2381400" cy="36195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1143000" y="1905000"/>
              <a:ext cx="20001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4F81B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cloud_queue</a:t>
              </a:r>
              <a:endParaRPr sz="3200">
                <a:solidFill>
                  <a:srgbClr val="4F81B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Real-Time Data Retrieval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Integrating live Weather APIs (WeatherAPI.java) to fetch current temperature, humidity, wind patterns, and atmospheric conditions dynamically.</a:t>
              </a:r>
              <a:endParaRPr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3619500" y="1714500"/>
              <a:ext cx="2381400" cy="36195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 txBox="1"/>
            <p:nvPr/>
          </p:nvSpPr>
          <p:spPr>
            <a:xfrm>
              <a:off x="3810000" y="1905000"/>
              <a:ext cx="20001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4F81B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3200">
                <a:solidFill>
                  <a:srgbClr val="4F81B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Advanced Analytics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Analyzing historical data patterns and forecasts using custom algorithms (WeatherAnalyzer.java) and interactive graphical UI (GraphPanel.java).</a:t>
              </a:r>
              <a:endParaRPr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6286500" y="1714500"/>
              <a:ext cx="2381400" cy="36195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6477000" y="1905000"/>
              <a:ext cx="20001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4F81B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folder_open</a:t>
              </a:r>
              <a:endParaRPr sz="3200">
                <a:solidFill>
                  <a:srgbClr val="4F81B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Persistence &amp; Logs</a:t>
              </a:r>
              <a:endParaRPr b="1" sz="16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Managing file logs and previous session history reliably through FileManager.java and HistoryManager.java for efficient offline lookup.</a:t>
              </a:r>
              <a:endParaRPr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Architecture &amp; Components</a:t>
            </a:r>
            <a:endParaRPr b="1" sz="38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rgbClr val="4F81BD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5"/>
          <p:cNvPicPr preferRelativeResize="0"/>
          <p:nvPr/>
        </p:nvPicPr>
        <p:blipFill rotWithShape="1">
          <a:blip r:embed="rId3">
            <a:alphaModFix/>
          </a:blip>
          <a:srcRect b="5453" l="0" r="0" t="5453"/>
          <a:stretch/>
        </p:blipFill>
        <p:spPr>
          <a:xfrm>
            <a:off x="772160" y="5746747"/>
            <a:ext cx="752400" cy="77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5"/>
          <p:cNvGrpSpPr/>
          <p:nvPr/>
        </p:nvGrpSpPr>
        <p:grpSpPr>
          <a:xfrm>
            <a:off x="4857750" y="2000250"/>
            <a:ext cx="3810000" cy="2857500"/>
            <a:chOff x="4857750" y="2000250"/>
            <a:chExt cx="3810000" cy="2857500"/>
          </a:xfrm>
        </p:grpSpPr>
        <p:pic>
          <p:nvPicPr>
            <p:cNvPr descr="A high-resolution, modern desktop computer monitor displaying a dark-mode weather application dashboard interface, showcasing detailed charts, temperature graphs, and atmospheric metrics, clean minimalist workstation background, soft professional studio lighting." id="167" name="Google Shape;16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7750" y="2000250"/>
              <a:ext cx="3810000" cy="2857500"/>
            </a:xfrm>
            <a:prstGeom prst="roundRect">
              <a:avLst>
                <a:gd fmla="val 5333" name="adj"/>
              </a:avLst>
            </a:prstGeom>
            <a:noFill/>
            <a:ln>
              <a:noFill/>
            </a:ln>
          </p:spPr>
        </p:pic>
        <p:sp>
          <p:nvSpPr>
            <p:cNvPr id="168" name="Google Shape;168;p5"/>
            <p:cNvSpPr/>
            <p:nvPr/>
          </p:nvSpPr>
          <p:spPr>
            <a:xfrm>
              <a:off x="4857750" y="2000250"/>
              <a:ext cx="3810000" cy="2857500"/>
            </a:xfrm>
            <a:prstGeom prst="roundRect">
              <a:avLst>
                <a:gd fmla="val 5333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952500" y="1714500"/>
            <a:ext cx="3905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Atmos is structured using a modular </a:t>
            </a:r>
            <a:r>
              <a:rPr b="1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Java Swing</a:t>
            </a:r>
            <a:r>
              <a:rPr b="0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architecture separating UI components (</a:t>
            </a:r>
            <a:r>
              <a:rPr b="0" lang="en-US" sz="1300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Dashboard.java</a:t>
            </a:r>
            <a:r>
              <a:rPr b="0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lang="en-US" sz="1300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ComparePanel.java</a:t>
            </a:r>
            <a:r>
              <a:rPr b="0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) from back-end logic (</a:t>
            </a:r>
            <a:r>
              <a:rPr b="0" lang="en-US" sz="1300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Utils.java</a:t>
            </a:r>
            <a:r>
              <a:rPr b="0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lang="en-US" sz="1300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WeatherData.java</a:t>
            </a:r>
            <a:r>
              <a:rPr b="0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sz="13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7365D"/>
                </a:solidFill>
                <a:highlight>
                  <a:srgbClr val="F2F5FA"/>
                </a:highlight>
                <a:latin typeface="Calibri"/>
                <a:ea typeface="Calibri"/>
                <a:cs typeface="Calibri"/>
                <a:sym typeface="Calibri"/>
              </a:rPr>
              <a:t>Modular Design</a:t>
            </a:r>
            <a:endParaRPr b="1" sz="1600">
              <a:solidFill>
                <a:srgbClr val="17365D"/>
              </a:solidFill>
              <a:highlight>
                <a:srgbClr val="F2F5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highlight>
                  <a:srgbClr val="F2F5FA"/>
                </a:highlight>
                <a:latin typeface="Calibri"/>
                <a:ea typeface="Calibri"/>
                <a:cs typeface="Calibri"/>
                <a:sym typeface="Calibri"/>
              </a:rPr>
              <a:t>Clean separation between data parsing and rendering views.</a:t>
            </a:r>
            <a:endParaRPr sz="1100">
              <a:solidFill>
                <a:srgbClr val="555555"/>
              </a:solidFill>
              <a:highlight>
                <a:srgbClr val="F2F5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7365D"/>
                </a:solidFill>
                <a:highlight>
                  <a:srgbClr val="F2F5FA"/>
                </a:highlight>
                <a:latin typeface="Calibri"/>
                <a:ea typeface="Calibri"/>
                <a:cs typeface="Calibri"/>
                <a:sym typeface="Calibri"/>
              </a:rPr>
              <a:t>User Experience</a:t>
            </a:r>
            <a:endParaRPr b="1" sz="1600">
              <a:solidFill>
                <a:srgbClr val="17365D"/>
              </a:solidFill>
              <a:highlight>
                <a:srgbClr val="F2F5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highlight>
                  <a:srgbClr val="F2F5FA"/>
                </a:highlight>
                <a:latin typeface="Calibri"/>
                <a:ea typeface="Calibri"/>
                <a:cs typeface="Calibri"/>
                <a:sym typeface="Calibri"/>
              </a:rPr>
              <a:t>Responsive layout supporting multi-location comparison and dashboard insights.</a:t>
            </a:r>
            <a:endParaRPr sz="1100">
              <a:solidFill>
                <a:srgbClr val="555555"/>
              </a:solidFill>
              <a:highlight>
                <a:srgbClr val="F2F5FA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type="title"/>
          </p:nvPr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Project Output</a:t>
            </a:r>
            <a:endParaRPr b="0" i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Results &amp; Screenshots</a:t>
            </a:r>
            <a:endParaRPr b="0" i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rgbClr val="4F81BD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504950" y="1695450"/>
            <a:ext cx="7086600" cy="3591000"/>
          </a:xfrm>
          <a:prstGeom prst="roundRect">
            <a:avLst>
              <a:gd fmla="val 2652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6"/>
          <p:cNvPicPr preferRelativeResize="0"/>
          <p:nvPr/>
        </p:nvPicPr>
        <p:blipFill rotWithShape="1">
          <a:blip r:embed="rId3">
            <a:alphaModFix/>
          </a:blip>
          <a:srcRect b="5453" l="0" r="0" t="5453"/>
          <a:stretch/>
        </p:blipFill>
        <p:spPr>
          <a:xfrm>
            <a:off x="772160" y="5746747"/>
            <a:ext cx="752400" cy="7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-543" r="0" t="0"/>
          <a:stretch/>
        </p:blipFill>
        <p:spPr>
          <a:xfrm>
            <a:off x="1485900" y="1458175"/>
            <a:ext cx="7086600" cy="44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rgbClr val="4F81BD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7"/>
          <p:cNvPicPr preferRelativeResize="0"/>
          <p:nvPr/>
        </p:nvPicPr>
        <p:blipFill rotWithShape="1">
          <a:blip r:embed="rId3">
            <a:alphaModFix/>
          </a:blip>
          <a:srcRect b="5453" l="0" r="10" t="5453"/>
          <a:stretch/>
        </p:blipFill>
        <p:spPr>
          <a:xfrm>
            <a:off x="772160" y="5746747"/>
            <a:ext cx="752400" cy="7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4">
            <a:alphaModFix/>
          </a:blip>
          <a:srcRect b="3427" l="0" r="0" t="3437"/>
          <a:stretch/>
        </p:blipFill>
        <p:spPr>
          <a:xfrm>
            <a:off x="1711125" y="188625"/>
            <a:ext cx="5912100" cy="3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 title="Screenshot 2026-07-25 0027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6949" y="3496725"/>
            <a:ext cx="5912098" cy="320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Project Output</a:t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r>
              <a:rPr b="1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Comparison</a:t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rgbClr val="4F81BD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 b="5453" l="0" r="10" t="5453"/>
          <a:stretch/>
        </p:blipFill>
        <p:spPr>
          <a:xfrm>
            <a:off x="772160" y="5746747"/>
            <a:ext cx="752400" cy="7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1504950" y="1695450"/>
            <a:ext cx="6896100" cy="3762300"/>
          </a:xfrm>
          <a:prstGeom prst="roundRect">
            <a:avLst>
              <a:gd fmla="val 2531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4">
            <a:alphaModFix/>
          </a:blip>
          <a:srcRect b="-3332" l="0" r="-2775" t="820"/>
          <a:stretch/>
        </p:blipFill>
        <p:spPr>
          <a:xfrm>
            <a:off x="1524000" y="1676400"/>
            <a:ext cx="7048500" cy="39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Project Implementation</a:t>
            </a:r>
            <a:endParaRPr b="0" i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Code Snippets</a:t>
            </a:r>
            <a:endParaRPr b="0" i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rgbClr val="4F81BD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5453" l="0" r="10" t="5453"/>
          <a:stretch/>
        </p:blipFill>
        <p:spPr>
          <a:xfrm>
            <a:off x="772160" y="5746747"/>
            <a:ext cx="752400" cy="77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0"/>
          <p:cNvGrpSpPr/>
          <p:nvPr/>
        </p:nvGrpSpPr>
        <p:grpSpPr>
          <a:xfrm>
            <a:off x="952500" y="1714500"/>
            <a:ext cx="3705300" cy="4038600"/>
            <a:chOff x="952500" y="1714500"/>
            <a:chExt cx="3705300" cy="4038600"/>
          </a:xfrm>
        </p:grpSpPr>
        <p:sp>
          <p:nvSpPr>
            <p:cNvPr id="205" name="Google Shape;205;p10"/>
            <p:cNvSpPr/>
            <p:nvPr/>
          </p:nvSpPr>
          <p:spPr>
            <a:xfrm>
              <a:off x="990600" y="1752600"/>
              <a:ext cx="3667200" cy="4000500"/>
            </a:xfrm>
            <a:prstGeom prst="roundRect">
              <a:avLst>
                <a:gd fmla="val 2077" name="adj"/>
              </a:avLst>
            </a:prstGeom>
            <a:solidFill>
              <a:srgbClr val="000000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952500" y="1714500"/>
              <a:ext cx="3667200" cy="4000500"/>
            </a:xfrm>
            <a:prstGeom prst="roundRect">
              <a:avLst>
                <a:gd fmla="val 2077" name="adj"/>
              </a:avLst>
            </a:prstGeom>
            <a:solidFill>
              <a:srgbClr val="1E1E1E"/>
            </a:solidFill>
            <a:ln cap="flat" cmpd="sng" w="143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962025" y="1724025"/>
              <a:ext cx="3648000" cy="428700"/>
            </a:xfrm>
            <a:prstGeom prst="roundRect">
              <a:avLst>
                <a:gd fmla="val 15555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0"/>
            <p:cNvSpPr txBox="1"/>
            <p:nvPr/>
          </p:nvSpPr>
          <p:spPr>
            <a:xfrm>
              <a:off x="1047750" y="1714500"/>
              <a:ext cx="34767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1. Encapsulation — Private Attributes &amp; Accessors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class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WeatherData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private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String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cityName;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private double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temperature;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// Encapsulated Getters &amp; Setters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String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getCityName() {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cityName;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void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setCityName(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String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name) {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this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.cityName = name;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double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getTemperature() {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temperature;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void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setTemperature(</a:t>
              </a: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double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temp) {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this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.temperature = temp;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09" name="Google Shape;209;p10"/>
          <p:cNvGrpSpPr/>
          <p:nvPr/>
        </p:nvGrpSpPr>
        <p:grpSpPr>
          <a:xfrm>
            <a:off x="4905375" y="1714500"/>
            <a:ext cx="3705300" cy="4038600"/>
            <a:chOff x="4905375" y="1714500"/>
            <a:chExt cx="3705300" cy="4038600"/>
          </a:xfrm>
        </p:grpSpPr>
        <p:sp>
          <p:nvSpPr>
            <p:cNvPr id="210" name="Google Shape;210;p10"/>
            <p:cNvSpPr/>
            <p:nvPr/>
          </p:nvSpPr>
          <p:spPr>
            <a:xfrm>
              <a:off x="4943475" y="1752600"/>
              <a:ext cx="3667200" cy="4000500"/>
            </a:xfrm>
            <a:prstGeom prst="roundRect">
              <a:avLst>
                <a:gd fmla="val 2077" name="adj"/>
              </a:avLst>
            </a:prstGeom>
            <a:solidFill>
              <a:srgbClr val="000000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4905375" y="1714500"/>
              <a:ext cx="3667200" cy="4000500"/>
            </a:xfrm>
            <a:prstGeom prst="roundRect">
              <a:avLst>
                <a:gd fmla="val 2077" name="adj"/>
              </a:avLst>
            </a:prstGeom>
            <a:solidFill>
              <a:srgbClr val="1E1E1E"/>
            </a:solidFill>
            <a:ln cap="flat" cmpd="sng" w="143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4914900" y="1724025"/>
              <a:ext cx="3648000" cy="428700"/>
            </a:xfrm>
            <a:prstGeom prst="roundRect">
              <a:avLst>
                <a:gd fmla="val 15555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0"/>
            <p:cNvSpPr txBox="1"/>
            <p:nvPr/>
          </p:nvSpPr>
          <p:spPr>
            <a:xfrm>
              <a:off x="5000625" y="1714500"/>
              <a:ext cx="34767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2. REST API Connection &amp; Exception Handling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URL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url = </a:t>
              </a: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URI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(geoUrlStr).toURL();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HttpURLConnection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conn =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HttpURLConnection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 url.openConnection();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conn.setRequestMethod(</a:t>
              </a:r>
              <a:r>
                <a:rPr lang="en-US" sz="95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"GET"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conn.setConnectTimeout(</a:t>
              </a:r>
              <a:r>
                <a:rPr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6000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(conn.getResponseCode() == </a:t>
              </a:r>
              <a:r>
                <a:rPr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200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BufferedReader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reader = </a:t>
              </a: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BufferedReader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InputStreamReader</a:t>
              </a: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(conn.getInputStream())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// Parses incoming REST JSON stream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// into WeatherData DTO</a:t>
              </a:r>
              <a:b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sz="95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0" y="11430"/>
            <a:ext cx="563100" cy="6846600"/>
          </a:xfrm>
          <a:prstGeom prst="rect">
            <a:avLst/>
          </a:prstGeom>
          <a:solidFill>
            <a:srgbClr val="4F81BD"/>
          </a:solidFill>
          <a:ln cap="flat" cmpd="sng" w="254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 b="5453" l="0" r="10" t="5453"/>
          <a:stretch/>
        </p:blipFill>
        <p:spPr>
          <a:xfrm>
            <a:off x="772160" y="5746747"/>
            <a:ext cx="752400" cy="7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 txBox="1"/>
          <p:nvPr/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Project Implementation</a:t>
            </a:r>
            <a:endParaRPr b="0" i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Code Snippets</a:t>
            </a:r>
            <a:endParaRPr b="0" i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11"/>
          <p:cNvGrpSpPr/>
          <p:nvPr/>
        </p:nvGrpSpPr>
        <p:grpSpPr>
          <a:xfrm>
            <a:off x="952500" y="1714500"/>
            <a:ext cx="3705300" cy="4038600"/>
            <a:chOff x="952500" y="1714500"/>
            <a:chExt cx="3705300" cy="4038600"/>
          </a:xfrm>
        </p:grpSpPr>
        <p:sp>
          <p:nvSpPr>
            <p:cNvPr id="222" name="Google Shape;222;p11"/>
            <p:cNvSpPr/>
            <p:nvPr/>
          </p:nvSpPr>
          <p:spPr>
            <a:xfrm>
              <a:off x="990600" y="1752600"/>
              <a:ext cx="3667200" cy="4000500"/>
            </a:xfrm>
            <a:prstGeom prst="roundRect">
              <a:avLst>
                <a:gd fmla="val 2076" name="adj"/>
              </a:avLst>
            </a:prstGeom>
            <a:solidFill>
              <a:srgbClr val="000000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952500" y="1714500"/>
              <a:ext cx="3667200" cy="4000500"/>
            </a:xfrm>
            <a:prstGeom prst="roundRect">
              <a:avLst>
                <a:gd fmla="val 2076" name="adj"/>
              </a:avLst>
            </a:prstGeom>
            <a:solidFill>
              <a:srgbClr val="1E1E1E"/>
            </a:solidFill>
            <a:ln cap="flat" cmpd="sng" w="143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962025" y="1724025"/>
              <a:ext cx="3648000" cy="428700"/>
            </a:xfrm>
            <a:prstGeom prst="roundRect">
              <a:avLst>
                <a:gd fmla="val 15555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1"/>
            <p:cNvSpPr txBox="1"/>
            <p:nvPr/>
          </p:nvSpPr>
          <p:spPr>
            <a:xfrm>
              <a:off x="1047750" y="1714500"/>
              <a:ext cx="34767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3. Polymorphism — Dynamic Comfort Score</a:t>
              </a:r>
              <a:endParaRPr b="1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class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WeatherAnalyzer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// Overloaded Signature 1</a:t>
              </a:r>
              <a:endParaRPr b="0"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static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ComfortReport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calculateComfortScore(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WeatherData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data) { ... }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// Overloaded Signature 2</a:t>
              </a:r>
              <a:endParaRPr b="0"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static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ComfortReport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calculateComfortScore(</a:t>
              </a: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double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temp, </a:t>
              </a: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humidity) {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double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score = </a:t>
              </a:r>
              <a:r>
                <a:rPr b="0"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100.0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- (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Math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.abs(temp - </a:t>
              </a:r>
              <a:r>
                <a:rPr b="0"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 * </a:t>
              </a:r>
              <a:r>
                <a:rPr b="0"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 - ((humidity - </a:t>
              </a:r>
              <a:r>
                <a:rPr b="0"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 * </a:t>
              </a:r>
              <a:r>
                <a:rPr b="0"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0.5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return new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ComfortReport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((</a:t>
              </a: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Math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.max(</a:t>
              </a:r>
              <a:r>
                <a:rPr b="0" lang="en-US" sz="95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score), </a:t>
              </a:r>
              <a:r>
                <a:rPr b="0" lang="en-US" sz="95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"Good"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6" name="Google Shape;226;p11"/>
          <p:cNvGrpSpPr/>
          <p:nvPr/>
        </p:nvGrpSpPr>
        <p:grpSpPr>
          <a:xfrm>
            <a:off x="4905375" y="1714500"/>
            <a:ext cx="3705300" cy="4038600"/>
            <a:chOff x="4905375" y="1714500"/>
            <a:chExt cx="3705300" cy="4038600"/>
          </a:xfrm>
        </p:grpSpPr>
        <p:sp>
          <p:nvSpPr>
            <p:cNvPr id="227" name="Google Shape;227;p11"/>
            <p:cNvSpPr/>
            <p:nvPr/>
          </p:nvSpPr>
          <p:spPr>
            <a:xfrm>
              <a:off x="4943475" y="1752600"/>
              <a:ext cx="3667200" cy="4000500"/>
            </a:xfrm>
            <a:prstGeom prst="roundRect">
              <a:avLst>
                <a:gd fmla="val 2076" name="adj"/>
              </a:avLst>
            </a:prstGeom>
            <a:solidFill>
              <a:srgbClr val="000000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4905375" y="1714500"/>
              <a:ext cx="3667200" cy="4000500"/>
            </a:xfrm>
            <a:prstGeom prst="roundRect">
              <a:avLst>
                <a:gd fmla="val 2076" name="adj"/>
              </a:avLst>
            </a:prstGeom>
            <a:solidFill>
              <a:srgbClr val="1E1E1E"/>
            </a:solidFill>
            <a:ln cap="flat" cmpd="sng" w="143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4914900" y="1724025"/>
              <a:ext cx="3648000" cy="428700"/>
            </a:xfrm>
            <a:prstGeom prst="roundRect">
              <a:avLst>
                <a:gd fmla="val 15555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 txBox="1"/>
            <p:nvPr/>
          </p:nvSpPr>
          <p:spPr>
            <a:xfrm>
              <a:off x="5000625" y="1714500"/>
              <a:ext cx="34767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4. Collections Framework — Memory Mgmt</a:t>
              </a:r>
              <a:endParaRPr b="1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class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HistoryManager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private final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List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WeatherData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 history = </a:t>
              </a: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ArrayList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&lt;&gt;();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 void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addRecord(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WeatherData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data) {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history.add(data);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public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List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r>
                <a:rPr b="0" lang="en-US" sz="95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WeatherData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 getHistory() {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history;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Challenges &amp; Learning Outcomes</a:t>
            </a:r>
            <a:endParaRPr b="1" i="0" sz="44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15"/>
          <p:cNvGrpSpPr/>
          <p:nvPr/>
        </p:nvGrpSpPr>
        <p:grpSpPr>
          <a:xfrm>
            <a:off x="780150" y="1417650"/>
            <a:ext cx="8229600" cy="2190900"/>
            <a:chOff x="457200" y="1476375"/>
            <a:chExt cx="8229600" cy="2190900"/>
          </a:xfrm>
        </p:grpSpPr>
        <p:sp>
          <p:nvSpPr>
            <p:cNvPr id="237" name="Google Shape;237;p15"/>
            <p:cNvSpPr/>
            <p:nvPr/>
          </p:nvSpPr>
          <p:spPr>
            <a:xfrm>
              <a:off x="457200" y="1476375"/>
              <a:ext cx="8229600" cy="2190900"/>
            </a:xfrm>
            <a:prstGeom prst="roundRect">
              <a:avLst>
                <a:gd fmla="val 3478" name="adj"/>
              </a:avLst>
            </a:prstGeom>
            <a:solidFill>
              <a:srgbClr val="FAFAFA"/>
            </a:solidFill>
            <a:ln cap="flat" cmpd="sng" w="143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5"/>
            <p:cNvSpPr txBox="1"/>
            <p:nvPr/>
          </p:nvSpPr>
          <p:spPr>
            <a:xfrm>
              <a:off x="666750" y="1619250"/>
              <a:ext cx="781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Challenges Faced</a:t>
              </a:r>
              <a:endParaRPr b="1" sz="1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5"/>
            <p:cNvSpPr txBox="1"/>
            <p:nvPr/>
          </p:nvSpPr>
          <p:spPr>
            <a:xfrm>
              <a:off x="666750" y="2000250"/>
              <a:ext cx="3714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Integrating REST APIs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Handling JSON data parsing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Managing network exceptions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5"/>
            <p:cNvSpPr txBox="1"/>
            <p:nvPr/>
          </p:nvSpPr>
          <p:spPr>
            <a:xfrm>
              <a:off x="4667250" y="2000250"/>
              <a:ext cx="381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Designing a responsive Java Swing GUI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Organizing using Object-Oriented Programming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5"/>
          <p:cNvGrpSpPr/>
          <p:nvPr/>
        </p:nvGrpSpPr>
        <p:grpSpPr>
          <a:xfrm>
            <a:off x="780150" y="3762925"/>
            <a:ext cx="8229600" cy="2190900"/>
            <a:chOff x="457200" y="3952875"/>
            <a:chExt cx="8229600" cy="2190900"/>
          </a:xfrm>
        </p:grpSpPr>
        <p:sp>
          <p:nvSpPr>
            <p:cNvPr id="242" name="Google Shape;242;p15"/>
            <p:cNvSpPr/>
            <p:nvPr/>
          </p:nvSpPr>
          <p:spPr>
            <a:xfrm>
              <a:off x="457200" y="3952875"/>
              <a:ext cx="8229600" cy="2190900"/>
            </a:xfrm>
            <a:prstGeom prst="roundRect">
              <a:avLst>
                <a:gd fmla="val 3478" name="adj"/>
              </a:avLst>
            </a:prstGeom>
            <a:solidFill>
              <a:srgbClr val="FAFAFA"/>
            </a:solidFill>
            <a:ln cap="flat" cmpd="sng" w="143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 txBox="1"/>
            <p:nvPr/>
          </p:nvSpPr>
          <p:spPr>
            <a:xfrm>
              <a:off x="666750" y="4095750"/>
              <a:ext cx="781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7365D"/>
                  </a:solidFill>
                  <a:latin typeface="Calibri"/>
                  <a:ea typeface="Calibri"/>
                  <a:cs typeface="Calibri"/>
                  <a:sym typeface="Calibri"/>
                </a:rPr>
                <a:t>Learning Outcomes</a:t>
              </a:r>
              <a:endParaRPr b="1" sz="1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5"/>
            <p:cNvSpPr txBox="1"/>
            <p:nvPr/>
          </p:nvSpPr>
          <p:spPr>
            <a:xfrm>
              <a:off x="666750" y="4476750"/>
              <a:ext cx="3714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Applied Object-Oriented Programming concepts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Worked with REST APIs &amp; HTTP communication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Implemented Java Swing GUI development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5"/>
            <p:cNvSpPr txBox="1"/>
            <p:nvPr/>
          </p:nvSpPr>
          <p:spPr>
            <a:xfrm>
              <a:off x="4667250" y="4476750"/>
              <a:ext cx="381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Improved exception handling &amp; debugging skills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Enhanced modular programming &amp; project structuring</a:t>
              </a:r>
              <a:endParaRPr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5"/>
          <p:cNvSpPr/>
          <p:nvPr/>
        </p:nvSpPr>
        <p:spPr>
          <a:xfrm>
            <a:off x="0" y="0"/>
            <a:ext cx="561900" cy="68580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15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780150" y="5953825"/>
            <a:ext cx="752400" cy="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/>
          <p:nvPr/>
        </p:nvSpPr>
        <p:spPr>
          <a:xfrm>
            <a:off x="0" y="0"/>
            <a:ext cx="561900" cy="68580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17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771525" y="5743575"/>
            <a:ext cx="7524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7"/>
          <p:cNvSpPr txBox="1"/>
          <p:nvPr/>
        </p:nvSpPr>
        <p:spPr>
          <a:xfrm>
            <a:off x="952500" y="381000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Project Conclusion</a:t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sz="1400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952500" y="1714500"/>
            <a:ext cx="7620000" cy="3238500"/>
          </a:xfrm>
          <a:prstGeom prst="roundRect">
            <a:avLst>
              <a:gd fmla="val 2941" name="adj"/>
            </a:avLst>
          </a:prstGeom>
          <a:solidFill>
            <a:srgbClr val="FAFAFA"/>
          </a:solidFill>
          <a:ln cap="flat" cmpd="sng" w="143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1238250" y="1905000"/>
            <a:ext cx="7048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Successfully developed a Java-based desktop weather application.</a:t>
            </a:r>
            <a:endParaRPr sz="14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Integrated real-time weather data using REST APIs.</a:t>
            </a:r>
            <a:endParaRPr sz="14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Applied Object-Oriented Programming concepts including Encapsulation, Polymorphism, and Collections.</a:t>
            </a:r>
            <a:endParaRPr sz="14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Developed an interactive Java Swing graphical user interface.</a:t>
            </a:r>
            <a:endParaRPr sz="14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Strengthened practical software development, debugging, and API integration skills.</a:t>
            </a:r>
            <a:endParaRPr sz="14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952500" y="5238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28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2023-06-05T08:11:00Z</dcterms:created>
  <dc:creator>Mahesh Patil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0x010100E8AC257BC2DBD348AA9D3861820CCD23</vt:lpwstr>
  </property>
  <property fmtid="{D5CDD505-2E9C-101B-9397-08002B2CF9AE}" pid="3" name="ICV">
    <vt:lpwstr>FD83A75A0C87417581F37F23ECAF5174_13</vt:lpwstr>
  </property>
  <property fmtid="{D5CDD505-2E9C-101B-9397-08002B2CF9AE}" pid="4" name="KSOProductBuildVer">
    <vt:lpwstr>1033-12.1.0.26880</vt:lpwstr>
  </property>
</Properties>
</file>